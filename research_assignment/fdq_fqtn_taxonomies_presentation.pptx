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Poppins"/>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oppins-bold.fntdata"/><Relationship Id="rId16" Type="http://schemas.openxmlformats.org/officeDocument/2006/relationships/font" Target="fonts/Poppins-regular.fntdata"/><Relationship Id="rId5" Type="http://schemas.openxmlformats.org/officeDocument/2006/relationships/notesMaster" Target="notesMasters/notesMaster1.xml"/><Relationship Id="rId19" Type="http://schemas.openxmlformats.org/officeDocument/2006/relationships/font" Target="fonts/Poppins-boldItalic.fntdata"/><Relationship Id="rId6" Type="http://schemas.openxmlformats.org/officeDocument/2006/relationships/slide" Target="slides/slide1.xml"/><Relationship Id="rId18" Type="http://schemas.openxmlformats.org/officeDocument/2006/relationships/font" Target="fonts/Poppins-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4.png"/><Relationship Id="rId7" Type="http://schemas.openxmlformats.org/officeDocument/2006/relationships/image" Target="../media/image16.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2.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6.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27.png"/><Relationship Id="rId8"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86" name="Google Shape;86;p13"/>
          <p:cNvSpPr txBox="1"/>
          <p:nvPr/>
        </p:nvSpPr>
        <p:spPr>
          <a:xfrm>
            <a:off x="295275" y="2026890"/>
            <a:ext cx="11601450" cy="2057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400" u="none" cap="none" strike="noStrike">
                <a:solidFill>
                  <a:srgbClr val="0F172A"/>
                </a:solidFill>
                <a:latin typeface="Poppins"/>
                <a:ea typeface="Poppins"/>
                <a:cs typeface="Poppins"/>
                <a:sym typeface="Poppins"/>
              </a:rPr>
              <a:t>FQDs, FQTNs, and Taxonomies in Database Governance</a:t>
            </a:r>
            <a:endParaRPr/>
          </a:p>
        </p:txBody>
      </p:sp>
      <p:sp>
        <p:nvSpPr>
          <p:cNvPr id="87" name="Google Shape;87;p13"/>
          <p:cNvSpPr txBox="1"/>
          <p:nvPr/>
        </p:nvSpPr>
        <p:spPr>
          <a:xfrm>
            <a:off x="295350" y="4274800"/>
            <a:ext cx="11601600" cy="1015800"/>
          </a:xfrm>
          <a:prstGeom prst="rect">
            <a:avLst/>
          </a:prstGeom>
          <a:noFill/>
          <a:ln>
            <a:noFill/>
          </a:ln>
        </p:spPr>
        <p:txBody>
          <a:bodyPr anchorCtr="0" anchor="t" bIns="0" lIns="0" spcFirstLastPara="1" rIns="0" wrap="square" tIns="0">
            <a:spAutoFit/>
          </a:bodyPr>
          <a:lstStyle/>
          <a:p>
            <a:pPr indent="0" lvl="0" marL="0" rtl="0" algn="ctr">
              <a:lnSpc>
                <a:spcPct val="98181"/>
              </a:lnSpc>
              <a:spcBef>
                <a:spcPts val="1000"/>
              </a:spcBef>
              <a:spcAft>
                <a:spcPts val="0"/>
              </a:spcAft>
              <a:buClr>
                <a:schemeClr val="dk1"/>
              </a:buClr>
              <a:buSzPts val="1100"/>
              <a:buFont typeface="Arial"/>
              <a:buNone/>
            </a:pPr>
            <a:r>
              <a:rPr lang="en-US" sz="2400">
                <a:solidFill>
                  <a:schemeClr val="dk1"/>
                </a:solidFill>
              </a:rPr>
              <a:t>By: Mohab Hussein, Gabriel Zamora, Ilya Yahoshchankau, Md Ismail Hossain, Ranjan Bhattarai</a:t>
            </a:r>
            <a:endParaRPr sz="2400">
              <a:solidFill>
                <a:schemeClr val="dk1"/>
              </a:solidFill>
            </a:endParaRPr>
          </a:p>
          <a:p>
            <a:pPr indent="0" lvl="0" marL="0" marR="0" rtl="0" algn="l">
              <a:lnSpc>
                <a:spcPct val="159944"/>
              </a:lnSpc>
              <a:spcBef>
                <a:spcPts val="0"/>
              </a:spcBef>
              <a:spcAft>
                <a:spcPts val="0"/>
              </a:spcAft>
              <a:buNone/>
            </a:pPr>
            <a:r>
              <a:t/>
            </a:r>
            <a:endParaRPr sz="1800">
              <a:solidFill>
                <a:srgbClr val="334155"/>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571500" y="1886098"/>
            <a:ext cx="3492549" cy="4057203"/>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4349799" y="1886098"/>
            <a:ext cx="3492549" cy="4057203"/>
          </a:xfrm>
          <a:prstGeom prst="rect">
            <a:avLst/>
          </a:prstGeom>
          <a:noFill/>
          <a:ln>
            <a:noFill/>
          </a:ln>
        </p:spPr>
      </p:pic>
      <p:pic>
        <p:nvPicPr>
          <p:cNvPr descr="image.png" id="94" name="Google Shape;94;p14"/>
          <p:cNvPicPr preferRelativeResize="0"/>
          <p:nvPr/>
        </p:nvPicPr>
        <p:blipFill rotWithShape="1">
          <a:blip r:embed="rId5">
            <a:alphaModFix/>
          </a:blip>
          <a:srcRect b="0" l="0" r="0" t="0"/>
          <a:stretch/>
        </p:blipFill>
        <p:spPr>
          <a:xfrm>
            <a:off x="8128099" y="1886098"/>
            <a:ext cx="3492549" cy="4057203"/>
          </a:xfrm>
          <a:prstGeom prst="rect">
            <a:avLst/>
          </a:prstGeom>
          <a:noFill/>
          <a:ln>
            <a:noFill/>
          </a:ln>
        </p:spPr>
      </p:pic>
      <p:sp>
        <p:nvSpPr>
          <p:cNvPr id="95" name="Google Shape;95;p14"/>
          <p:cNvSpPr txBox="1"/>
          <p:nvPr/>
        </p:nvSpPr>
        <p:spPr>
          <a:xfrm>
            <a:off x="1532602" y="2895748"/>
            <a:ext cx="1570196"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4F46E5"/>
                </a:solidFill>
                <a:latin typeface="Poppins"/>
                <a:ea typeface="Poppins"/>
                <a:cs typeface="Poppins"/>
                <a:sym typeface="Poppins"/>
              </a:rPr>
              <a:t>Taxonomy</a:t>
            </a:r>
            <a:endParaRPr/>
          </a:p>
        </p:txBody>
      </p:sp>
      <p:sp>
        <p:nvSpPr>
          <p:cNvPr id="96" name="Google Shape;96;p14"/>
          <p:cNvSpPr txBox="1"/>
          <p:nvPr/>
        </p:nvSpPr>
        <p:spPr>
          <a:xfrm>
            <a:off x="866775" y="3619648"/>
            <a:ext cx="2901999" cy="868412"/>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in relational databases, its the organized structure of Schemas, tables, columns, keys, and the such.</a:t>
            </a:r>
            <a:endParaRPr/>
          </a:p>
        </p:txBody>
      </p:sp>
      <p:sp>
        <p:nvSpPr>
          <p:cNvPr id="97" name="Google Shape;97;p14"/>
          <p:cNvSpPr txBox="1"/>
          <p:nvPr/>
        </p:nvSpPr>
        <p:spPr>
          <a:xfrm>
            <a:off x="4572524" y="2895748"/>
            <a:ext cx="3047099" cy="8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4F46E5"/>
                </a:solidFill>
                <a:latin typeface="Poppins"/>
                <a:ea typeface="Poppins"/>
                <a:cs typeface="Poppins"/>
                <a:sym typeface="Poppins"/>
              </a:rPr>
              <a:t>Fully Qualified Domain (FQD)</a:t>
            </a:r>
            <a:endParaRPr/>
          </a:p>
        </p:txBody>
      </p:sp>
      <p:sp>
        <p:nvSpPr>
          <p:cNvPr id="98" name="Google Shape;98;p14"/>
          <p:cNvSpPr txBox="1"/>
          <p:nvPr/>
        </p:nvSpPr>
        <p:spPr>
          <a:xfrm>
            <a:off x="4645074" y="4019698"/>
            <a:ext cx="2901999" cy="1447353"/>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A domain is a named, reusable data type that can include rules about what values are allowed. It explains the type of data something should be, kind of like a class in java.</a:t>
            </a:r>
            <a:endParaRPr/>
          </a:p>
        </p:txBody>
      </p:sp>
      <p:sp>
        <p:nvSpPr>
          <p:cNvPr id="99" name="Google Shape;99;p14"/>
          <p:cNvSpPr txBox="1"/>
          <p:nvPr/>
        </p:nvSpPr>
        <p:spPr>
          <a:xfrm>
            <a:off x="8350824" y="2895748"/>
            <a:ext cx="3047099" cy="8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4F46E5"/>
                </a:solidFill>
                <a:latin typeface="Poppins"/>
                <a:ea typeface="Poppins"/>
                <a:cs typeface="Poppins"/>
                <a:sym typeface="Poppins"/>
              </a:rPr>
              <a:t>Fully Qualified Table Name (FQTN)</a:t>
            </a:r>
            <a:endParaRPr/>
          </a:p>
        </p:txBody>
      </p:sp>
      <p:sp>
        <p:nvSpPr>
          <p:cNvPr id="100" name="Google Shape;100;p14"/>
          <p:cNvSpPr txBox="1"/>
          <p:nvPr/>
        </p:nvSpPr>
        <p:spPr>
          <a:xfrm>
            <a:off x="8423374" y="4019698"/>
            <a:ext cx="2901999" cy="868412"/>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A fully qualified table name includes a database, schema, and object name.</a:t>
            </a:r>
            <a:endParaRPr/>
          </a:p>
        </p:txBody>
      </p:sp>
      <p:pic>
        <p:nvPicPr>
          <p:cNvPr descr="image.png" id="101" name="Google Shape;101;p14"/>
          <p:cNvPicPr preferRelativeResize="0"/>
          <p:nvPr/>
        </p:nvPicPr>
        <p:blipFill rotWithShape="1">
          <a:blip r:embed="rId6">
            <a:alphaModFix/>
          </a:blip>
          <a:srcRect b="0" l="0" r="0" t="0"/>
          <a:stretch/>
        </p:blipFill>
        <p:spPr>
          <a:xfrm>
            <a:off x="2060525" y="2200423"/>
            <a:ext cx="514350" cy="457200"/>
          </a:xfrm>
          <a:prstGeom prst="rect">
            <a:avLst/>
          </a:prstGeom>
          <a:noFill/>
          <a:ln>
            <a:noFill/>
          </a:ln>
        </p:spPr>
      </p:pic>
      <p:pic>
        <p:nvPicPr>
          <p:cNvPr descr="image.png" id="102" name="Google Shape;102;p14"/>
          <p:cNvPicPr preferRelativeResize="0"/>
          <p:nvPr/>
        </p:nvPicPr>
        <p:blipFill rotWithShape="1">
          <a:blip r:embed="rId7">
            <a:alphaModFix/>
          </a:blip>
          <a:srcRect b="0" l="0" r="0" t="0"/>
          <a:stretch/>
        </p:blipFill>
        <p:spPr>
          <a:xfrm>
            <a:off x="5895975" y="2200423"/>
            <a:ext cx="400050" cy="457200"/>
          </a:xfrm>
          <a:prstGeom prst="rect">
            <a:avLst/>
          </a:prstGeom>
          <a:noFill/>
          <a:ln>
            <a:noFill/>
          </a:ln>
        </p:spPr>
      </p:pic>
      <p:pic>
        <p:nvPicPr>
          <p:cNvPr descr="image.png" id="103" name="Google Shape;103;p14"/>
          <p:cNvPicPr preferRelativeResize="0"/>
          <p:nvPr/>
        </p:nvPicPr>
        <p:blipFill rotWithShape="1">
          <a:blip r:embed="rId8">
            <a:alphaModFix/>
          </a:blip>
          <a:srcRect b="0" l="0" r="0" t="0"/>
          <a:stretch/>
        </p:blipFill>
        <p:spPr>
          <a:xfrm>
            <a:off x="9645699" y="2200423"/>
            <a:ext cx="457200" cy="457200"/>
          </a:xfrm>
          <a:prstGeom prst="rect">
            <a:avLst/>
          </a:prstGeom>
          <a:noFill/>
          <a:ln>
            <a:noFill/>
          </a:ln>
        </p:spPr>
      </p:pic>
      <p:sp>
        <p:nvSpPr>
          <p:cNvPr id="104" name="Google Shape;104;p14"/>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oppins"/>
                <a:ea typeface="Poppins"/>
                <a:cs typeface="Poppins"/>
                <a:sym typeface="Poppins"/>
              </a:rPr>
              <a:t>Introduction &amp; Key Concepts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15"/>
          <p:cNvSpPr txBox="1"/>
          <p:nvPr/>
        </p:nvSpPr>
        <p:spPr>
          <a:xfrm>
            <a:off x="2190750" y="1991171"/>
            <a:ext cx="81915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CREATE DOMAIN creates a new domain. A domain is essentially a data type with optional constraints (restrictions on the allowed set of values).</a:t>
            </a:r>
            <a:endParaRPr/>
          </a:p>
        </p:txBody>
      </p:sp>
      <p:sp>
        <p:nvSpPr>
          <p:cNvPr id="110" name="Google Shape;110;p15"/>
          <p:cNvSpPr txBox="1"/>
          <p:nvPr/>
        </p:nvSpPr>
        <p:spPr>
          <a:xfrm>
            <a:off x="2190750" y="2760612"/>
            <a:ext cx="81915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Domains can have CHECK conditions and DEFAULT values, and you can indicate whether the data type permits NULL values or not.</a:t>
            </a:r>
            <a:endParaRPr/>
          </a:p>
        </p:txBody>
      </p:sp>
      <p:sp>
        <p:nvSpPr>
          <p:cNvPr id="111" name="Google Shape;111;p15"/>
          <p:cNvSpPr txBox="1"/>
          <p:nvPr/>
        </p:nvSpPr>
        <p:spPr>
          <a:xfrm>
            <a:off x="2190750" y="3530054"/>
            <a:ext cx="819150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These conditions and values are inherited by any column defined on the domain.</a:t>
            </a:r>
            <a:endParaRPr/>
          </a:p>
        </p:txBody>
      </p:sp>
      <p:sp>
        <p:nvSpPr>
          <p:cNvPr id="112" name="Google Shape;112;p15"/>
          <p:cNvSpPr txBox="1"/>
          <p:nvPr/>
        </p:nvSpPr>
        <p:spPr>
          <a:xfrm>
            <a:off x="2190750" y="4010025"/>
            <a:ext cx="81915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Domains are useful for abstracting common constraints on fields into a single location for maintenance.</a:t>
            </a:r>
            <a:endParaRPr/>
          </a:p>
        </p:txBody>
      </p:sp>
      <p:sp>
        <p:nvSpPr>
          <p:cNvPr id="113" name="Google Shape;113;p15"/>
          <p:cNvSpPr txBox="1"/>
          <p:nvPr/>
        </p:nvSpPr>
        <p:spPr>
          <a:xfrm>
            <a:off x="2190750" y="4779466"/>
            <a:ext cx="819150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For example, several tables might contain email address columns, all requiring the same CHECK constraint to verify the address syntax. Define a domain rather than setting up each table's constraint individually.</a:t>
            </a:r>
            <a:endParaRPr/>
          </a:p>
        </p:txBody>
      </p:sp>
      <p:pic>
        <p:nvPicPr>
          <p:cNvPr descr="image.png" id="114" name="Google Shape;114;p15"/>
          <p:cNvPicPr preferRelativeResize="0"/>
          <p:nvPr/>
        </p:nvPicPr>
        <p:blipFill rotWithShape="1">
          <a:blip r:embed="rId3">
            <a:alphaModFix/>
          </a:blip>
          <a:srcRect b="0" l="0" r="0" t="0"/>
          <a:stretch/>
        </p:blipFill>
        <p:spPr>
          <a:xfrm>
            <a:off x="1809750" y="2038796"/>
            <a:ext cx="228600" cy="228600"/>
          </a:xfrm>
          <a:prstGeom prst="rect">
            <a:avLst/>
          </a:prstGeom>
          <a:noFill/>
          <a:ln>
            <a:noFill/>
          </a:ln>
        </p:spPr>
      </p:pic>
      <p:pic>
        <p:nvPicPr>
          <p:cNvPr descr="image.png" id="115" name="Google Shape;115;p15"/>
          <p:cNvPicPr preferRelativeResize="0"/>
          <p:nvPr/>
        </p:nvPicPr>
        <p:blipFill rotWithShape="1">
          <a:blip r:embed="rId4">
            <a:alphaModFix/>
          </a:blip>
          <a:srcRect b="0" l="0" r="0" t="0"/>
          <a:stretch/>
        </p:blipFill>
        <p:spPr>
          <a:xfrm>
            <a:off x="1809750" y="2808237"/>
            <a:ext cx="228600" cy="228600"/>
          </a:xfrm>
          <a:prstGeom prst="rect">
            <a:avLst/>
          </a:prstGeom>
          <a:noFill/>
          <a:ln>
            <a:noFill/>
          </a:ln>
        </p:spPr>
      </p:pic>
      <p:pic>
        <p:nvPicPr>
          <p:cNvPr descr="image.png" id="116" name="Google Shape;116;p15"/>
          <p:cNvPicPr preferRelativeResize="0"/>
          <p:nvPr/>
        </p:nvPicPr>
        <p:blipFill rotWithShape="1">
          <a:blip r:embed="rId4">
            <a:alphaModFix/>
          </a:blip>
          <a:srcRect b="0" l="0" r="0" t="0"/>
          <a:stretch/>
        </p:blipFill>
        <p:spPr>
          <a:xfrm>
            <a:off x="1809750" y="3577679"/>
            <a:ext cx="228600" cy="228600"/>
          </a:xfrm>
          <a:prstGeom prst="rect">
            <a:avLst/>
          </a:prstGeom>
          <a:noFill/>
          <a:ln>
            <a:noFill/>
          </a:ln>
        </p:spPr>
      </p:pic>
      <p:pic>
        <p:nvPicPr>
          <p:cNvPr descr="image.png" id="117" name="Google Shape;117;p15"/>
          <p:cNvPicPr preferRelativeResize="0"/>
          <p:nvPr/>
        </p:nvPicPr>
        <p:blipFill rotWithShape="1">
          <a:blip r:embed="rId5">
            <a:alphaModFix/>
          </a:blip>
          <a:srcRect b="0" l="0" r="0" t="0"/>
          <a:stretch/>
        </p:blipFill>
        <p:spPr>
          <a:xfrm>
            <a:off x="1809750" y="4057650"/>
            <a:ext cx="228600" cy="228600"/>
          </a:xfrm>
          <a:prstGeom prst="rect">
            <a:avLst/>
          </a:prstGeom>
          <a:noFill/>
          <a:ln>
            <a:noFill/>
          </a:ln>
        </p:spPr>
      </p:pic>
      <p:pic>
        <p:nvPicPr>
          <p:cNvPr descr="image.png" id="118" name="Google Shape;118;p15"/>
          <p:cNvPicPr preferRelativeResize="0"/>
          <p:nvPr/>
        </p:nvPicPr>
        <p:blipFill rotWithShape="1">
          <a:blip r:embed="rId4">
            <a:alphaModFix/>
          </a:blip>
          <a:srcRect b="0" l="0" r="0" t="0"/>
          <a:stretch/>
        </p:blipFill>
        <p:spPr>
          <a:xfrm>
            <a:off x="1809750" y="4827091"/>
            <a:ext cx="228600" cy="228600"/>
          </a:xfrm>
          <a:prstGeom prst="rect">
            <a:avLst/>
          </a:prstGeom>
          <a:noFill/>
          <a:ln>
            <a:noFill/>
          </a:ln>
        </p:spPr>
      </p:pic>
      <p:sp>
        <p:nvSpPr>
          <p:cNvPr id="119" name="Google Shape;119;p15"/>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oppins"/>
                <a:ea typeface="Poppins"/>
                <a:cs typeface="Poppins"/>
                <a:sym typeface="Poppins"/>
              </a:rPr>
              <a:t>The ANSI Standard: CREATE DOMAIN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16"/>
          <p:cNvSpPr txBox="1"/>
          <p:nvPr/>
        </p:nvSpPr>
        <p:spPr>
          <a:xfrm>
            <a:off x="2190750" y="2280642"/>
            <a:ext cx="819150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Creates an alias data type... in the current database in SQL Server</a:t>
            </a:r>
            <a:endParaRPr/>
          </a:p>
        </p:txBody>
      </p:sp>
      <p:sp>
        <p:nvSpPr>
          <p:cNvPr id="125" name="Google Shape;125;p16"/>
          <p:cNvSpPr txBox="1"/>
          <p:nvPr/>
        </p:nvSpPr>
        <p:spPr>
          <a:xfrm>
            <a:off x="2190750" y="2760612"/>
            <a:ext cx="819150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The implementation of an alias data type is based on a Database Engine native system type.</a:t>
            </a:r>
            <a:endParaRPr/>
          </a:p>
        </p:txBody>
      </p:sp>
      <p:sp>
        <p:nvSpPr>
          <p:cNvPr id="126" name="Google Shape;126;p16"/>
          <p:cNvSpPr txBox="1"/>
          <p:nvPr/>
        </p:nvSpPr>
        <p:spPr>
          <a:xfrm>
            <a:off x="2190750" y="3240583"/>
            <a:ext cx="81915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CREATE TYPE is a format that allows an organization to create their own data type in a database that can be used to accomplish a specific task.</a:t>
            </a:r>
            <a:endParaRPr/>
          </a:p>
        </p:txBody>
      </p:sp>
      <p:sp>
        <p:nvSpPr>
          <p:cNvPr id="127" name="Google Shape;127;p16"/>
          <p:cNvSpPr txBox="1"/>
          <p:nvPr/>
        </p:nvSpPr>
        <p:spPr>
          <a:xfrm>
            <a:off x="2190750" y="4010025"/>
            <a:ext cx="81915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This makes the database easier to understand and reduces errors, because everyone will use the same standard data type when storing the same type of information.</a:t>
            </a:r>
            <a:endParaRPr/>
          </a:p>
        </p:txBody>
      </p:sp>
      <p:sp>
        <p:nvSpPr>
          <p:cNvPr id="128" name="Google Shape;128;p16"/>
          <p:cNvSpPr txBox="1"/>
          <p:nvPr/>
        </p:nvSpPr>
        <p:spPr>
          <a:xfrm>
            <a:off x="2190750" y="4779466"/>
            <a:ext cx="81915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For example, if an organization wants a reserve phoneNumber or employeeID, they can create a custom data type called phoneNumber/employeeID.</a:t>
            </a:r>
            <a:endParaRPr/>
          </a:p>
        </p:txBody>
      </p:sp>
      <p:pic>
        <p:nvPicPr>
          <p:cNvPr descr="image.png" id="129" name="Google Shape;129;p16"/>
          <p:cNvPicPr preferRelativeResize="0"/>
          <p:nvPr/>
        </p:nvPicPr>
        <p:blipFill rotWithShape="1">
          <a:blip r:embed="rId3">
            <a:alphaModFix/>
          </a:blip>
          <a:srcRect b="0" l="0" r="0" t="0"/>
          <a:stretch/>
        </p:blipFill>
        <p:spPr>
          <a:xfrm>
            <a:off x="1809750" y="2328267"/>
            <a:ext cx="200025" cy="228600"/>
          </a:xfrm>
          <a:prstGeom prst="rect">
            <a:avLst/>
          </a:prstGeom>
          <a:noFill/>
          <a:ln>
            <a:noFill/>
          </a:ln>
        </p:spPr>
      </p:pic>
      <p:pic>
        <p:nvPicPr>
          <p:cNvPr descr="image.png" id="130" name="Google Shape;130;p16"/>
          <p:cNvPicPr preferRelativeResize="0"/>
          <p:nvPr/>
        </p:nvPicPr>
        <p:blipFill rotWithShape="1">
          <a:blip r:embed="rId4">
            <a:alphaModFix/>
          </a:blip>
          <a:srcRect b="0" l="0" r="0" t="0"/>
          <a:stretch/>
        </p:blipFill>
        <p:spPr>
          <a:xfrm>
            <a:off x="1809750" y="2808237"/>
            <a:ext cx="200025" cy="228600"/>
          </a:xfrm>
          <a:prstGeom prst="rect">
            <a:avLst/>
          </a:prstGeom>
          <a:noFill/>
          <a:ln>
            <a:noFill/>
          </a:ln>
        </p:spPr>
      </p:pic>
      <p:pic>
        <p:nvPicPr>
          <p:cNvPr descr="image.png" id="131" name="Google Shape;131;p16"/>
          <p:cNvPicPr preferRelativeResize="0"/>
          <p:nvPr/>
        </p:nvPicPr>
        <p:blipFill rotWithShape="1">
          <a:blip r:embed="rId3">
            <a:alphaModFix/>
          </a:blip>
          <a:srcRect b="0" l="0" r="0" t="0"/>
          <a:stretch/>
        </p:blipFill>
        <p:spPr>
          <a:xfrm>
            <a:off x="1809750" y="3288208"/>
            <a:ext cx="200025" cy="228600"/>
          </a:xfrm>
          <a:prstGeom prst="rect">
            <a:avLst/>
          </a:prstGeom>
          <a:noFill/>
          <a:ln>
            <a:noFill/>
          </a:ln>
        </p:spPr>
      </p:pic>
      <p:pic>
        <p:nvPicPr>
          <p:cNvPr descr="image.png" id="132" name="Google Shape;132;p16"/>
          <p:cNvPicPr preferRelativeResize="0"/>
          <p:nvPr/>
        </p:nvPicPr>
        <p:blipFill rotWithShape="1">
          <a:blip r:embed="rId5">
            <a:alphaModFix/>
          </a:blip>
          <a:srcRect b="0" l="0" r="0" t="0"/>
          <a:stretch/>
        </p:blipFill>
        <p:spPr>
          <a:xfrm>
            <a:off x="1809750" y="4057650"/>
            <a:ext cx="200025" cy="228600"/>
          </a:xfrm>
          <a:prstGeom prst="rect">
            <a:avLst/>
          </a:prstGeom>
          <a:noFill/>
          <a:ln>
            <a:noFill/>
          </a:ln>
        </p:spPr>
      </p:pic>
      <p:pic>
        <p:nvPicPr>
          <p:cNvPr descr="image.png" id="133" name="Google Shape;133;p16"/>
          <p:cNvPicPr preferRelativeResize="0"/>
          <p:nvPr/>
        </p:nvPicPr>
        <p:blipFill rotWithShape="1">
          <a:blip r:embed="rId4">
            <a:alphaModFix/>
          </a:blip>
          <a:srcRect b="0" l="0" r="0" t="0"/>
          <a:stretch/>
        </p:blipFill>
        <p:spPr>
          <a:xfrm>
            <a:off x="1809750" y="4827091"/>
            <a:ext cx="200025" cy="228600"/>
          </a:xfrm>
          <a:prstGeom prst="rect">
            <a:avLst/>
          </a:prstGeom>
          <a:noFill/>
          <a:ln>
            <a:noFill/>
          </a:ln>
        </p:spPr>
      </p:pic>
      <p:sp>
        <p:nvSpPr>
          <p:cNvPr id="134" name="Google Shape;134;p16"/>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oppins"/>
                <a:ea typeface="Poppins"/>
                <a:cs typeface="Poppins"/>
                <a:sym typeface="Poppins"/>
              </a:rPr>
              <a:t>The T-SQL Method: CREATE TYPE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pic>
        <p:nvPicPr>
          <p:cNvPr descr="image.png" id="139" name="Google Shape;139;p17"/>
          <p:cNvPicPr preferRelativeResize="0"/>
          <p:nvPr/>
        </p:nvPicPr>
        <p:blipFill rotWithShape="1">
          <a:blip r:embed="rId3">
            <a:alphaModFix/>
          </a:blip>
          <a:srcRect b="0" l="0" r="0" t="0"/>
          <a:stretch/>
        </p:blipFill>
        <p:spPr>
          <a:xfrm>
            <a:off x="571500" y="1952773"/>
            <a:ext cx="5286375" cy="3923853"/>
          </a:xfrm>
          <a:prstGeom prst="rect">
            <a:avLst/>
          </a:prstGeom>
          <a:noFill/>
          <a:ln>
            <a:noFill/>
          </a:ln>
        </p:spPr>
      </p:pic>
      <p:pic>
        <p:nvPicPr>
          <p:cNvPr descr="image.png" id="140" name="Google Shape;140;p17"/>
          <p:cNvPicPr preferRelativeResize="0"/>
          <p:nvPr/>
        </p:nvPicPr>
        <p:blipFill rotWithShape="1">
          <a:blip r:embed="rId4">
            <a:alphaModFix/>
          </a:blip>
          <a:srcRect b="0" l="0" r="0" t="0"/>
          <a:stretch/>
        </p:blipFill>
        <p:spPr>
          <a:xfrm>
            <a:off x="6334125" y="1952773"/>
            <a:ext cx="5286375" cy="3923853"/>
          </a:xfrm>
          <a:prstGeom prst="rect">
            <a:avLst/>
          </a:prstGeom>
          <a:noFill/>
          <a:ln>
            <a:noFill/>
          </a:ln>
        </p:spPr>
      </p:pic>
      <p:sp>
        <p:nvSpPr>
          <p:cNvPr id="141" name="Google Shape;141;p17"/>
          <p:cNvSpPr txBox="1"/>
          <p:nvPr/>
        </p:nvSpPr>
        <p:spPr>
          <a:xfrm>
            <a:off x="962025" y="2343298"/>
            <a:ext cx="4730591"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4F46E5"/>
                </a:solidFill>
                <a:latin typeface="Poppins"/>
                <a:ea typeface="Poppins"/>
                <a:cs typeface="Poppins"/>
                <a:sym typeface="Poppins"/>
              </a:rPr>
              <a:t>The Limitation of CREATE TYPE (T-SQL)</a:t>
            </a:r>
            <a:endParaRPr/>
          </a:p>
        </p:txBody>
      </p:sp>
      <p:sp>
        <p:nvSpPr>
          <p:cNvPr id="142" name="Google Shape;142;p17"/>
          <p:cNvSpPr txBox="1"/>
          <p:nvPr/>
        </p:nvSpPr>
        <p:spPr>
          <a:xfrm>
            <a:off x="962025" y="3324373"/>
            <a:ext cx="45053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All the CREATE DATATYPE statement does is create an alias to a datatype... and because it does not allow a CHECK expression, it offers no value for data integrity</a:t>
            </a:r>
            <a:endParaRPr/>
          </a:p>
        </p:txBody>
      </p:sp>
      <p:sp>
        <p:nvSpPr>
          <p:cNvPr id="143" name="Google Shape;143;p17"/>
          <p:cNvSpPr txBox="1"/>
          <p:nvPr/>
        </p:nvSpPr>
        <p:spPr>
          <a:xfrm>
            <a:off x="962025" y="4726185"/>
            <a:ext cx="45053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334155"/>
                </a:solidFill>
                <a:latin typeface="Lato"/>
                <a:ea typeface="Lato"/>
                <a:cs typeface="Lato"/>
                <a:sym typeface="Lato"/>
              </a:rPr>
              <a:t>Note:</a:t>
            </a:r>
            <a:r>
              <a:rPr b="0" i="0" lang="en-US" sz="1425" u="none" cap="none" strike="noStrike">
                <a:solidFill>
                  <a:srgbClr val="334155"/>
                </a:solidFill>
                <a:latin typeface="Lato"/>
                <a:ea typeface="Lato"/>
                <a:cs typeface="Lato"/>
                <a:sym typeface="Lato"/>
              </a:rPr>
              <a:t> The CREATE DOMAIN statement (which is part of the ANSI SQL standard) is not supported in SQL Server.</a:t>
            </a:r>
            <a:endParaRPr/>
          </a:p>
        </p:txBody>
      </p:sp>
      <p:sp>
        <p:nvSpPr>
          <p:cNvPr id="144" name="Google Shape;144;p17"/>
          <p:cNvSpPr txBox="1"/>
          <p:nvPr/>
        </p:nvSpPr>
        <p:spPr>
          <a:xfrm>
            <a:off x="6724650" y="2343298"/>
            <a:ext cx="4730591"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4F46E5"/>
                </a:solidFill>
                <a:latin typeface="Poppins"/>
                <a:ea typeface="Poppins"/>
                <a:cs typeface="Poppins"/>
                <a:sym typeface="Poppins"/>
              </a:rPr>
              <a:t>The Advantage of CREATE DOMAIN (ANSI)</a:t>
            </a:r>
            <a:endParaRPr/>
          </a:p>
        </p:txBody>
      </p:sp>
      <p:sp>
        <p:nvSpPr>
          <p:cNvPr id="145" name="Google Shape;145;p17"/>
          <p:cNvSpPr txBox="1"/>
          <p:nvPr/>
        </p:nvSpPr>
        <p:spPr>
          <a:xfrm>
            <a:off x="6724650" y="3324373"/>
            <a:ext cx="45053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This guarantees that definition of the domain appears in only one place, only once in schema, and can be altered or validated with certainty.</a:t>
            </a:r>
            <a:endParaRPr/>
          </a:p>
        </p:txBody>
      </p:sp>
      <p:sp>
        <p:nvSpPr>
          <p:cNvPr id="146" name="Google Shape;146;p17"/>
          <p:cNvSpPr txBox="1"/>
          <p:nvPr/>
        </p:nvSpPr>
        <p:spPr>
          <a:xfrm>
            <a:off x="6724650" y="4726185"/>
            <a:ext cx="45053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334155"/>
                </a:solidFill>
                <a:latin typeface="Lato"/>
                <a:ea typeface="Lato"/>
                <a:cs typeface="Lato"/>
                <a:sym typeface="Lato"/>
              </a:rPr>
              <a:t>Note:</a:t>
            </a:r>
            <a:r>
              <a:rPr b="0" i="0" lang="en-US" sz="1425" u="none" cap="none" strike="noStrike">
                <a:solidFill>
                  <a:srgbClr val="334155"/>
                </a:solidFill>
                <a:latin typeface="Lato"/>
                <a:ea typeface="Lato"/>
                <a:cs typeface="Lato"/>
                <a:sym typeface="Lato"/>
              </a:rPr>
              <a:t> The CREATE TYPE statement (for defining user-defined data types) is not part of the ANSI SQL standard.</a:t>
            </a:r>
            <a:endParaRPr/>
          </a:p>
        </p:txBody>
      </p:sp>
      <p:sp>
        <p:nvSpPr>
          <p:cNvPr id="147" name="Google Shape;147;p17"/>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oppins"/>
                <a:ea typeface="Poppins"/>
                <a:cs typeface="Poppins"/>
                <a:sym typeface="Poppins"/>
              </a:rPr>
              <a:t>DOMAIN vs. TYPE: The Key Difference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pic>
        <p:nvPicPr>
          <p:cNvPr descr="image.png" id="152" name="Google Shape;152;p18"/>
          <p:cNvPicPr preferRelativeResize="0"/>
          <p:nvPr/>
        </p:nvPicPr>
        <p:blipFill rotWithShape="1">
          <a:blip r:embed="rId3">
            <a:alphaModFix/>
          </a:blip>
          <a:srcRect b="0" l="0" r="0" t="0"/>
          <a:stretch/>
        </p:blipFill>
        <p:spPr>
          <a:xfrm>
            <a:off x="6334125" y="1870174"/>
            <a:ext cx="5286375" cy="4051101"/>
          </a:xfrm>
          <a:prstGeom prst="rect">
            <a:avLst/>
          </a:prstGeom>
          <a:noFill/>
          <a:ln>
            <a:noFill/>
          </a:ln>
        </p:spPr>
      </p:pic>
      <p:sp>
        <p:nvSpPr>
          <p:cNvPr id="153" name="Google Shape;153;p18"/>
          <p:cNvSpPr txBox="1"/>
          <p:nvPr/>
        </p:nvSpPr>
        <p:spPr>
          <a:xfrm>
            <a:off x="704850" y="1872079"/>
            <a:ext cx="1047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Lato"/>
                <a:ea typeface="Lato"/>
                <a:cs typeface="Lato"/>
                <a:sym typeface="Lato"/>
              </a:rPr>
              <a:t>•</a:t>
            </a:r>
            <a:endParaRPr/>
          </a:p>
        </p:txBody>
      </p:sp>
      <p:sp>
        <p:nvSpPr>
          <p:cNvPr id="154" name="Google Shape;154;p18"/>
          <p:cNvSpPr txBox="1"/>
          <p:nvPr/>
        </p:nvSpPr>
        <p:spPr>
          <a:xfrm>
            <a:off x="809625" y="1870174"/>
            <a:ext cx="5048250" cy="1157882"/>
          </a:xfrm>
          <a:prstGeom prst="rect">
            <a:avLst/>
          </a:prstGeom>
          <a:noFill/>
          <a:ln>
            <a:noFill/>
          </a:ln>
        </p:spPr>
        <p:txBody>
          <a:bodyPr anchorCtr="0" anchor="t" bIns="0" lIns="104775"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Taxonomy in SQL is basically the same in english, which is the classification system used, but in relational databases, its the organized structure of Schemas, tables, columns, keys, and the such.</a:t>
            </a:r>
            <a:endParaRPr/>
          </a:p>
        </p:txBody>
      </p:sp>
      <p:sp>
        <p:nvSpPr>
          <p:cNvPr id="155" name="Google Shape;155;p18"/>
          <p:cNvSpPr txBox="1"/>
          <p:nvPr/>
        </p:nvSpPr>
        <p:spPr>
          <a:xfrm>
            <a:off x="704850" y="3172837"/>
            <a:ext cx="1047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Lato"/>
                <a:ea typeface="Lato"/>
                <a:cs typeface="Lato"/>
                <a:sym typeface="Lato"/>
              </a:rPr>
              <a:t>•</a:t>
            </a:r>
            <a:endParaRPr/>
          </a:p>
        </p:txBody>
      </p:sp>
      <p:sp>
        <p:nvSpPr>
          <p:cNvPr id="156" name="Google Shape;156;p18"/>
          <p:cNvSpPr txBox="1"/>
          <p:nvPr/>
        </p:nvSpPr>
        <p:spPr>
          <a:xfrm>
            <a:off x="809625" y="3170932"/>
            <a:ext cx="5048250" cy="1157882"/>
          </a:xfrm>
          <a:prstGeom prst="rect">
            <a:avLst/>
          </a:prstGeom>
          <a:noFill/>
          <a:ln>
            <a:noFill/>
          </a:ln>
        </p:spPr>
        <p:txBody>
          <a:bodyPr anchorCtr="0" anchor="t" bIns="0" lIns="104775"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Data taxonomy is a system of organizing information that helps companies to sort, group and level data so that anyone can easily understand its meaning and what the data is used for.</a:t>
            </a:r>
            <a:endParaRPr/>
          </a:p>
        </p:txBody>
      </p:sp>
      <p:sp>
        <p:nvSpPr>
          <p:cNvPr id="157" name="Google Shape;157;p18"/>
          <p:cNvSpPr txBox="1"/>
          <p:nvPr/>
        </p:nvSpPr>
        <p:spPr>
          <a:xfrm>
            <a:off x="704850" y="4473594"/>
            <a:ext cx="1047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Lato"/>
                <a:ea typeface="Lato"/>
                <a:cs typeface="Lato"/>
                <a:sym typeface="Lato"/>
              </a:rPr>
              <a:t>•</a:t>
            </a:r>
            <a:endParaRPr/>
          </a:p>
        </p:txBody>
      </p:sp>
      <p:sp>
        <p:nvSpPr>
          <p:cNvPr id="158" name="Google Shape;158;p18"/>
          <p:cNvSpPr txBox="1"/>
          <p:nvPr/>
        </p:nvSpPr>
        <p:spPr>
          <a:xfrm>
            <a:off x="809625" y="4471689"/>
            <a:ext cx="5048250" cy="868412"/>
          </a:xfrm>
          <a:prstGeom prst="rect">
            <a:avLst/>
          </a:prstGeom>
          <a:noFill/>
          <a:ln>
            <a:noFill/>
          </a:ln>
        </p:spPr>
        <p:txBody>
          <a:bodyPr anchorCtr="0" anchor="t" bIns="0" lIns="104775"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This system ensures data is used and stored in the same way, so that data doesn't mix-up and remains error free across the organization.</a:t>
            </a:r>
            <a:endParaRPr/>
          </a:p>
        </p:txBody>
      </p:sp>
      <p:sp>
        <p:nvSpPr>
          <p:cNvPr id="159" name="Google Shape;159;p18"/>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oppins"/>
                <a:ea typeface="Poppins"/>
                <a:cs typeface="Poppins"/>
                <a:sym typeface="Poppins"/>
              </a:rPr>
              <a:t>What is a Data Taxonomy?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pic>
        <p:nvPicPr>
          <p:cNvPr descr="image.png" id="164" name="Google Shape;164;p19"/>
          <p:cNvPicPr preferRelativeResize="0"/>
          <p:nvPr/>
        </p:nvPicPr>
        <p:blipFill rotWithShape="1">
          <a:blip r:embed="rId3">
            <a:alphaModFix/>
          </a:blip>
          <a:srcRect b="0" l="0" r="0" t="0"/>
          <a:stretch/>
        </p:blipFill>
        <p:spPr>
          <a:xfrm>
            <a:off x="571500" y="1796653"/>
            <a:ext cx="3492549" cy="4236094"/>
          </a:xfrm>
          <a:prstGeom prst="rect">
            <a:avLst/>
          </a:prstGeom>
          <a:noFill/>
          <a:ln>
            <a:noFill/>
          </a:ln>
        </p:spPr>
      </p:pic>
      <p:pic>
        <p:nvPicPr>
          <p:cNvPr descr="image.png" id="165" name="Google Shape;165;p19"/>
          <p:cNvPicPr preferRelativeResize="0"/>
          <p:nvPr/>
        </p:nvPicPr>
        <p:blipFill rotWithShape="1">
          <a:blip r:embed="rId4">
            <a:alphaModFix/>
          </a:blip>
          <a:srcRect b="0" l="0" r="0" t="0"/>
          <a:stretch/>
        </p:blipFill>
        <p:spPr>
          <a:xfrm>
            <a:off x="4349799" y="1796653"/>
            <a:ext cx="3492549" cy="4236094"/>
          </a:xfrm>
          <a:prstGeom prst="rect">
            <a:avLst/>
          </a:prstGeom>
          <a:noFill/>
          <a:ln>
            <a:noFill/>
          </a:ln>
        </p:spPr>
      </p:pic>
      <p:pic>
        <p:nvPicPr>
          <p:cNvPr descr="image.png" id="166" name="Google Shape;166;p19"/>
          <p:cNvPicPr preferRelativeResize="0"/>
          <p:nvPr/>
        </p:nvPicPr>
        <p:blipFill rotWithShape="1">
          <a:blip r:embed="rId5">
            <a:alphaModFix/>
          </a:blip>
          <a:srcRect b="0" l="0" r="0" t="0"/>
          <a:stretch/>
        </p:blipFill>
        <p:spPr>
          <a:xfrm>
            <a:off x="8128099" y="1796653"/>
            <a:ext cx="3492549" cy="4236094"/>
          </a:xfrm>
          <a:prstGeom prst="rect">
            <a:avLst/>
          </a:prstGeom>
          <a:noFill/>
          <a:ln>
            <a:noFill/>
          </a:ln>
        </p:spPr>
      </p:pic>
      <p:sp>
        <p:nvSpPr>
          <p:cNvPr id="167" name="Google Shape;167;p19"/>
          <p:cNvSpPr txBox="1"/>
          <p:nvPr/>
        </p:nvSpPr>
        <p:spPr>
          <a:xfrm>
            <a:off x="1022538" y="2806303"/>
            <a:ext cx="2590323"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4F46E5"/>
                </a:solidFill>
                <a:latin typeface="Poppins"/>
                <a:ea typeface="Poppins"/>
                <a:cs typeface="Poppins"/>
                <a:sym typeface="Poppins"/>
              </a:rPr>
              <a:t>Data Consistency</a:t>
            </a:r>
            <a:endParaRPr/>
          </a:p>
        </p:txBody>
      </p:sp>
      <p:sp>
        <p:nvSpPr>
          <p:cNvPr id="168" name="Google Shape;168;p19"/>
          <p:cNvSpPr txBox="1"/>
          <p:nvPr/>
        </p:nvSpPr>
        <p:spPr>
          <a:xfrm>
            <a:off x="866775" y="3530203"/>
            <a:ext cx="2901999" cy="2026294"/>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when database has multiple schema, each one might have a similar column, like customerID, so when using a FQD, it makes sure each schema uses the same exact format. This system ensures less risk of data inconsistencies and errors.</a:t>
            </a:r>
            <a:endParaRPr/>
          </a:p>
        </p:txBody>
      </p:sp>
      <p:sp>
        <p:nvSpPr>
          <p:cNvPr id="169" name="Google Shape;169;p19"/>
          <p:cNvSpPr txBox="1"/>
          <p:nvPr/>
        </p:nvSpPr>
        <p:spPr>
          <a:xfrm>
            <a:off x="5265896" y="2806303"/>
            <a:ext cx="1660207"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4F46E5"/>
                </a:solidFill>
                <a:latin typeface="Poppins"/>
                <a:ea typeface="Poppins"/>
                <a:cs typeface="Poppins"/>
                <a:sym typeface="Poppins"/>
              </a:rPr>
              <a:t>Reusability</a:t>
            </a:r>
            <a:endParaRPr/>
          </a:p>
        </p:txBody>
      </p:sp>
      <p:sp>
        <p:nvSpPr>
          <p:cNvPr id="170" name="Google Shape;170;p19"/>
          <p:cNvSpPr txBox="1"/>
          <p:nvPr/>
        </p:nvSpPr>
        <p:spPr>
          <a:xfrm>
            <a:off x="4645074" y="3530203"/>
            <a:ext cx="2901999" cy="1447353"/>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You can reuse it anywhere, even within different schemas... that improve efficiency and reduce the need of repeated data typing which saves time too.</a:t>
            </a:r>
            <a:endParaRPr/>
          </a:p>
        </p:txBody>
      </p:sp>
      <p:sp>
        <p:nvSpPr>
          <p:cNvPr id="171" name="Google Shape;171;p19"/>
          <p:cNvSpPr txBox="1"/>
          <p:nvPr/>
        </p:nvSpPr>
        <p:spPr>
          <a:xfrm>
            <a:off x="8974187" y="2806303"/>
            <a:ext cx="1800225"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4F46E5"/>
                </a:solidFill>
                <a:latin typeface="Poppins"/>
                <a:ea typeface="Poppins"/>
                <a:cs typeface="Poppins"/>
                <a:sym typeface="Poppins"/>
              </a:rPr>
              <a:t>Governance</a:t>
            </a:r>
            <a:endParaRPr/>
          </a:p>
        </p:txBody>
      </p:sp>
      <p:sp>
        <p:nvSpPr>
          <p:cNvPr id="172" name="Google Shape;172;p19"/>
          <p:cNvSpPr txBox="1"/>
          <p:nvPr/>
        </p:nvSpPr>
        <p:spPr>
          <a:xfrm>
            <a:off x="8423374" y="3530203"/>
            <a:ext cx="2901999" cy="1447353"/>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By the rules of FQD’s, you can attach rules and constraints to it that apply everywhere its being used... so that data remains accurate, safe and used correctly</a:t>
            </a:r>
            <a:endParaRPr/>
          </a:p>
        </p:txBody>
      </p:sp>
      <p:pic>
        <p:nvPicPr>
          <p:cNvPr descr="image.png" id="173" name="Google Shape;173;p19"/>
          <p:cNvPicPr preferRelativeResize="0"/>
          <p:nvPr/>
        </p:nvPicPr>
        <p:blipFill rotWithShape="1">
          <a:blip r:embed="rId6">
            <a:alphaModFix/>
          </a:blip>
          <a:srcRect b="0" l="0" r="0" t="0"/>
          <a:stretch/>
        </p:blipFill>
        <p:spPr>
          <a:xfrm>
            <a:off x="2117675" y="2110978"/>
            <a:ext cx="400050" cy="457200"/>
          </a:xfrm>
          <a:prstGeom prst="rect">
            <a:avLst/>
          </a:prstGeom>
          <a:noFill/>
          <a:ln>
            <a:noFill/>
          </a:ln>
        </p:spPr>
      </p:pic>
      <p:pic>
        <p:nvPicPr>
          <p:cNvPr descr="image.png" id="174" name="Google Shape;174;p19"/>
          <p:cNvPicPr preferRelativeResize="0"/>
          <p:nvPr/>
        </p:nvPicPr>
        <p:blipFill rotWithShape="1">
          <a:blip r:embed="rId7">
            <a:alphaModFix/>
          </a:blip>
          <a:srcRect b="0" l="0" r="0" t="0"/>
          <a:stretch/>
        </p:blipFill>
        <p:spPr>
          <a:xfrm>
            <a:off x="5867400" y="2110978"/>
            <a:ext cx="457200" cy="457200"/>
          </a:xfrm>
          <a:prstGeom prst="rect">
            <a:avLst/>
          </a:prstGeom>
          <a:noFill/>
          <a:ln>
            <a:noFill/>
          </a:ln>
        </p:spPr>
      </p:pic>
      <p:pic>
        <p:nvPicPr>
          <p:cNvPr descr="image.png" id="175" name="Google Shape;175;p19"/>
          <p:cNvPicPr preferRelativeResize="0"/>
          <p:nvPr/>
        </p:nvPicPr>
        <p:blipFill rotWithShape="1">
          <a:blip r:embed="rId8">
            <a:alphaModFix/>
          </a:blip>
          <a:srcRect b="0" l="0" r="0" t="0"/>
          <a:stretch/>
        </p:blipFill>
        <p:spPr>
          <a:xfrm>
            <a:off x="9645699" y="2110978"/>
            <a:ext cx="457200" cy="457200"/>
          </a:xfrm>
          <a:prstGeom prst="rect">
            <a:avLst/>
          </a:prstGeom>
          <a:noFill/>
          <a:ln>
            <a:noFill/>
          </a:ln>
        </p:spPr>
      </p:pic>
      <p:sp>
        <p:nvSpPr>
          <p:cNvPr id="176" name="Google Shape;176;p19"/>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oppins"/>
                <a:ea typeface="Poppins"/>
                <a:cs typeface="Poppins"/>
                <a:sym typeface="Poppins"/>
              </a:rPr>
              <a:t>Benefits of FQDs in a Taxonomy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20"/>
          <p:cNvSpPr txBox="1"/>
          <p:nvPr/>
        </p:nvSpPr>
        <p:spPr>
          <a:xfrm>
            <a:off x="6334125" y="1903362"/>
            <a:ext cx="5550693"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F172A"/>
                </a:solidFill>
                <a:latin typeface="Poppins"/>
                <a:ea typeface="Poppins"/>
                <a:cs typeface="Poppins"/>
                <a:sym typeface="Poppins"/>
              </a:rPr>
              <a:t>Definition</a:t>
            </a:r>
            <a:endParaRPr/>
          </a:p>
        </p:txBody>
      </p:sp>
      <p:sp>
        <p:nvSpPr>
          <p:cNvPr id="182" name="Google Shape;182;p20"/>
          <p:cNvSpPr txBox="1"/>
          <p:nvPr/>
        </p:nvSpPr>
        <p:spPr>
          <a:xfrm>
            <a:off x="6334125" y="2484387"/>
            <a:ext cx="52863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A Fully Qualified Table Name (FQTN) is a complete name of a table that includes DatabaseName , SchemaName and TableName.</a:t>
            </a:r>
            <a:endParaRPr/>
          </a:p>
        </p:txBody>
      </p:sp>
      <p:sp>
        <p:nvSpPr>
          <p:cNvPr id="183" name="Google Shape;183;p20"/>
          <p:cNvSpPr txBox="1"/>
          <p:nvPr/>
        </p:nvSpPr>
        <p:spPr>
          <a:xfrm>
            <a:off x="6334125" y="3244304"/>
            <a:ext cx="5550693"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F172A"/>
                </a:solidFill>
                <a:latin typeface="Poppins"/>
                <a:ea typeface="Poppins"/>
                <a:cs typeface="Poppins"/>
                <a:sym typeface="Poppins"/>
              </a:rPr>
              <a:t>Example</a:t>
            </a:r>
            <a:endParaRPr/>
          </a:p>
        </p:txBody>
      </p:sp>
      <p:sp>
        <p:nvSpPr>
          <p:cNvPr id="184" name="Google Shape;184;p20"/>
          <p:cNvSpPr txBox="1"/>
          <p:nvPr/>
        </p:nvSpPr>
        <p:spPr>
          <a:xfrm>
            <a:off x="6334125" y="3825329"/>
            <a:ext cx="52863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In our previous databases, in example northwinds, one could be Northwinds.Sales.Customer, it has the [database].[schema].[table]</a:t>
            </a:r>
            <a:endParaRPr/>
          </a:p>
        </p:txBody>
      </p:sp>
      <p:sp>
        <p:nvSpPr>
          <p:cNvPr id="185" name="Google Shape;185;p20"/>
          <p:cNvSpPr txBox="1"/>
          <p:nvPr/>
        </p:nvSpPr>
        <p:spPr>
          <a:xfrm>
            <a:off x="6334125" y="4585245"/>
            <a:ext cx="5550693"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F172A"/>
                </a:solidFill>
                <a:latin typeface="Poppins"/>
                <a:ea typeface="Poppins"/>
                <a:cs typeface="Poppins"/>
                <a:sym typeface="Poppins"/>
              </a:rPr>
              <a:t>Purpose</a:t>
            </a:r>
            <a:endParaRPr/>
          </a:p>
        </p:txBody>
      </p:sp>
      <p:sp>
        <p:nvSpPr>
          <p:cNvPr id="186" name="Google Shape;186;p20"/>
          <p:cNvSpPr txBox="1"/>
          <p:nvPr/>
        </p:nvSpPr>
        <p:spPr>
          <a:xfrm>
            <a:off x="6334125" y="5166270"/>
            <a:ext cx="52863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Qualified table in SQL references help avoid ambiguity by explicitly stating the project, dataset, and table.</a:t>
            </a:r>
            <a:endParaRPr/>
          </a:p>
        </p:txBody>
      </p:sp>
      <p:pic>
        <p:nvPicPr>
          <p:cNvPr descr="image.png" id="187" name="Google Shape;187;p20"/>
          <p:cNvPicPr preferRelativeResize="0"/>
          <p:nvPr/>
        </p:nvPicPr>
        <p:blipFill rotWithShape="1">
          <a:blip r:embed="rId3">
            <a:alphaModFix/>
          </a:blip>
          <a:srcRect b="0" l="0" r="0" t="0"/>
          <a:stretch/>
        </p:blipFill>
        <p:spPr>
          <a:xfrm>
            <a:off x="1547812" y="2247900"/>
            <a:ext cx="3333750" cy="3333750"/>
          </a:xfrm>
          <a:prstGeom prst="rect">
            <a:avLst/>
          </a:prstGeom>
          <a:noFill/>
          <a:ln>
            <a:noFill/>
          </a:ln>
        </p:spPr>
      </p:pic>
      <p:sp>
        <p:nvSpPr>
          <p:cNvPr id="188" name="Google Shape;188;p20"/>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oppins"/>
                <a:ea typeface="Poppins"/>
                <a:cs typeface="Poppins"/>
                <a:sym typeface="Poppins"/>
              </a:rPr>
              <a:t>What are Fully Qualified Table Names?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pic>
        <p:nvPicPr>
          <p:cNvPr descr="image.png" id="193" name="Google Shape;193;p21"/>
          <p:cNvPicPr preferRelativeResize="0"/>
          <p:nvPr/>
        </p:nvPicPr>
        <p:blipFill rotWithShape="1">
          <a:blip r:embed="rId3">
            <a:alphaModFix/>
          </a:blip>
          <a:srcRect b="0" l="0" r="0" t="0"/>
          <a:stretch/>
        </p:blipFill>
        <p:spPr>
          <a:xfrm>
            <a:off x="571500" y="2039540"/>
            <a:ext cx="5286375" cy="3750319"/>
          </a:xfrm>
          <a:prstGeom prst="rect">
            <a:avLst/>
          </a:prstGeom>
          <a:noFill/>
          <a:ln>
            <a:noFill/>
          </a:ln>
        </p:spPr>
      </p:pic>
      <p:pic>
        <p:nvPicPr>
          <p:cNvPr descr="image.png" id="194" name="Google Shape;194;p21"/>
          <p:cNvPicPr preferRelativeResize="0"/>
          <p:nvPr/>
        </p:nvPicPr>
        <p:blipFill rotWithShape="1">
          <a:blip r:embed="rId4">
            <a:alphaModFix/>
          </a:blip>
          <a:srcRect b="0" l="0" r="0" t="0"/>
          <a:stretch/>
        </p:blipFill>
        <p:spPr>
          <a:xfrm>
            <a:off x="6334125" y="2039540"/>
            <a:ext cx="5286375" cy="3750319"/>
          </a:xfrm>
          <a:prstGeom prst="rect">
            <a:avLst/>
          </a:prstGeom>
          <a:noFill/>
          <a:ln>
            <a:noFill/>
          </a:ln>
        </p:spPr>
      </p:pic>
      <p:sp>
        <p:nvSpPr>
          <p:cNvPr id="195" name="Google Shape;195;p21"/>
          <p:cNvSpPr txBox="1"/>
          <p:nvPr/>
        </p:nvSpPr>
        <p:spPr>
          <a:xfrm>
            <a:off x="962025" y="2430065"/>
            <a:ext cx="4730591"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4F46E5"/>
                </a:solidFill>
                <a:latin typeface="Poppins"/>
                <a:ea typeface="Poppins"/>
                <a:cs typeface="Poppins"/>
                <a:sym typeface="Poppins"/>
              </a:rPr>
              <a:t>Clarity</a:t>
            </a:r>
            <a:endParaRPr/>
          </a:p>
        </p:txBody>
      </p:sp>
      <p:sp>
        <p:nvSpPr>
          <p:cNvPr id="196" name="Google Shape;196;p21"/>
          <p:cNvSpPr txBox="1"/>
          <p:nvPr/>
        </p:nvSpPr>
        <p:spPr>
          <a:xfrm>
            <a:off x="962025" y="3011090"/>
            <a:ext cx="4505325"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using something like SELECT FROM Customer, the query wont know what customer it means, so you use Sales.Customer so it knows where to choose, or better yet, northwinds.Sales.Customer</a:t>
            </a:r>
            <a:endParaRPr/>
          </a:p>
        </p:txBody>
      </p:sp>
      <p:sp>
        <p:nvSpPr>
          <p:cNvPr id="197" name="Google Shape;197;p21"/>
          <p:cNvSpPr txBox="1"/>
          <p:nvPr/>
        </p:nvSpPr>
        <p:spPr>
          <a:xfrm>
            <a:off x="962025" y="4349948"/>
            <a:ext cx="45053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334155"/>
                </a:solidFill>
                <a:latin typeface="Lato"/>
                <a:ea typeface="Lato"/>
                <a:cs typeface="Lato"/>
                <a:sym typeface="Lato"/>
              </a:rPr>
              <a:t>Eliminates Ambiguity:</a:t>
            </a:r>
            <a:r>
              <a:rPr b="0" i="0" lang="en-US" sz="1425" u="none" cap="none" strike="noStrike">
                <a:solidFill>
                  <a:srgbClr val="334155"/>
                </a:solidFill>
                <a:latin typeface="Lato"/>
                <a:ea typeface="Lato"/>
                <a:cs typeface="Lato"/>
                <a:sym typeface="Lato"/>
              </a:rPr>
              <a:t> By specifying project, dataset, and table, you avoid accidental queries on identically named tables in other datasets.</a:t>
            </a:r>
            <a:endParaRPr/>
          </a:p>
        </p:txBody>
      </p:sp>
      <p:sp>
        <p:nvSpPr>
          <p:cNvPr id="198" name="Google Shape;198;p21"/>
          <p:cNvSpPr txBox="1"/>
          <p:nvPr/>
        </p:nvSpPr>
        <p:spPr>
          <a:xfrm>
            <a:off x="6724650" y="2430065"/>
            <a:ext cx="4730591"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4F46E5"/>
                </a:solidFill>
                <a:latin typeface="Poppins"/>
                <a:ea typeface="Poppins"/>
                <a:cs typeface="Poppins"/>
                <a:sym typeface="Poppins"/>
              </a:rPr>
              <a:t>Referential Integrity</a:t>
            </a:r>
            <a:endParaRPr/>
          </a:p>
        </p:txBody>
      </p:sp>
      <p:sp>
        <p:nvSpPr>
          <p:cNvPr id="199" name="Google Shape;199;p21"/>
          <p:cNvSpPr txBox="1"/>
          <p:nvPr/>
        </p:nvSpPr>
        <p:spPr>
          <a:xfrm>
            <a:off x="6724650" y="3011090"/>
            <a:ext cx="45053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FQTN helps to avoid confusion when different tables have the same name.</a:t>
            </a:r>
            <a:endParaRPr/>
          </a:p>
        </p:txBody>
      </p:sp>
      <p:sp>
        <p:nvSpPr>
          <p:cNvPr id="200" name="Google Shape;200;p21"/>
          <p:cNvSpPr txBox="1"/>
          <p:nvPr/>
        </p:nvSpPr>
        <p:spPr>
          <a:xfrm>
            <a:off x="6724650" y="3771007"/>
            <a:ext cx="4505325"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Lato"/>
                <a:ea typeface="Lato"/>
                <a:cs typeface="Lato"/>
                <a:sym typeface="Lato"/>
              </a:rPr>
              <a:t>It means that the relationships between tables remain valid, it makes sure that it connects the correct tables and not tables that are named after other tables or share the same name.</a:t>
            </a:r>
            <a:endParaRPr/>
          </a:p>
        </p:txBody>
      </p:sp>
      <p:sp>
        <p:nvSpPr>
          <p:cNvPr id="201" name="Google Shape;201;p21"/>
          <p:cNvSpPr txBox="1"/>
          <p:nvPr/>
        </p:nvSpPr>
        <p:spPr>
          <a:xfrm>
            <a:off x="571500" y="5715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oppins"/>
                <a:ea typeface="Poppins"/>
                <a:cs typeface="Poppins"/>
                <a:sym typeface="Poppins"/>
              </a:rPr>
              <a:t>Importance: Clarity &amp; Integrity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22"/>
          <p:cNvSpPr txBox="1"/>
          <p:nvPr/>
        </p:nvSpPr>
        <p:spPr>
          <a:xfrm>
            <a:off x="285750" y="571500"/>
            <a:ext cx="6440805"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oppins"/>
                <a:ea typeface="Poppins"/>
                <a:cs typeface="Poppins"/>
                <a:sym typeface="Poppins"/>
              </a:rPr>
              <a:t>Importance: Scalability</a:t>
            </a:r>
            <a:endParaRPr/>
          </a:p>
        </p:txBody>
      </p:sp>
      <p:pic>
        <p:nvPicPr>
          <p:cNvPr descr="image.png" id="207" name="Google Shape;207;p22"/>
          <p:cNvPicPr preferRelativeResize="0"/>
          <p:nvPr/>
        </p:nvPicPr>
        <p:blipFill rotWithShape="1">
          <a:blip r:embed="rId3">
            <a:alphaModFix/>
          </a:blip>
          <a:srcRect b="0" l="0" r="0" t="0"/>
          <a:stretch/>
        </p:blipFill>
        <p:spPr>
          <a:xfrm>
            <a:off x="6991350" y="0"/>
            <a:ext cx="5486400" cy="6858000"/>
          </a:xfrm>
          <a:prstGeom prst="rect">
            <a:avLst/>
          </a:prstGeom>
          <a:noFill/>
          <a:ln>
            <a:noFill/>
          </a:ln>
        </p:spPr>
      </p:pic>
      <p:sp>
        <p:nvSpPr>
          <p:cNvPr id="208" name="Google Shape;208;p22"/>
          <p:cNvSpPr txBox="1"/>
          <p:nvPr/>
        </p:nvSpPr>
        <p:spPr>
          <a:xfrm>
            <a:off x="419100" y="1697355"/>
            <a:ext cx="1047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Lato"/>
                <a:ea typeface="Lato"/>
                <a:cs typeface="Lato"/>
                <a:sym typeface="Lato"/>
              </a:rPr>
              <a:t>•</a:t>
            </a:r>
            <a:endParaRPr/>
          </a:p>
        </p:txBody>
      </p:sp>
      <p:sp>
        <p:nvSpPr>
          <p:cNvPr id="209" name="Google Shape;209;p22"/>
          <p:cNvSpPr txBox="1"/>
          <p:nvPr/>
        </p:nvSpPr>
        <p:spPr>
          <a:xfrm>
            <a:off x="523875" y="1695450"/>
            <a:ext cx="5895975" cy="868412"/>
          </a:xfrm>
          <a:prstGeom prst="rect">
            <a:avLst/>
          </a:prstGeom>
          <a:noFill/>
          <a:ln>
            <a:noFill/>
          </a:ln>
        </p:spPr>
        <p:txBody>
          <a:bodyPr anchorCtr="0" anchor="t" bIns="0" lIns="104775"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334155"/>
                </a:solidFill>
                <a:latin typeface="Lato"/>
                <a:ea typeface="Lato"/>
                <a:cs typeface="Lato"/>
                <a:sym typeface="Lato"/>
              </a:rPr>
              <a:t>Scalability:</a:t>
            </a:r>
            <a:r>
              <a:rPr b="0" i="0" lang="en-US" sz="1425" u="none" cap="none" strike="noStrike">
                <a:solidFill>
                  <a:srgbClr val="334155"/>
                </a:solidFill>
                <a:latin typeface="Lato"/>
                <a:ea typeface="Lato"/>
                <a:cs typeface="Lato"/>
                <a:sym typeface="Lato"/>
              </a:rPr>
              <a:t> As the database grows or you use more databases, when you consistently use FQTN’s, your SQL becomes readable and know where everything is from.</a:t>
            </a:r>
            <a:endParaRPr/>
          </a:p>
        </p:txBody>
      </p:sp>
      <p:sp>
        <p:nvSpPr>
          <p:cNvPr id="210" name="Google Shape;210;p22"/>
          <p:cNvSpPr txBox="1"/>
          <p:nvPr/>
        </p:nvSpPr>
        <p:spPr>
          <a:xfrm>
            <a:off x="419100" y="2718167"/>
            <a:ext cx="1047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Lato"/>
                <a:ea typeface="Lato"/>
                <a:cs typeface="Lato"/>
                <a:sym typeface="Lato"/>
              </a:rPr>
              <a:t>•</a:t>
            </a:r>
            <a:endParaRPr/>
          </a:p>
        </p:txBody>
      </p:sp>
      <p:sp>
        <p:nvSpPr>
          <p:cNvPr id="211" name="Google Shape;211;p22"/>
          <p:cNvSpPr txBox="1"/>
          <p:nvPr/>
        </p:nvSpPr>
        <p:spPr>
          <a:xfrm>
            <a:off x="523875" y="2716262"/>
            <a:ext cx="5895975" cy="1157882"/>
          </a:xfrm>
          <a:prstGeom prst="rect">
            <a:avLst/>
          </a:prstGeom>
          <a:noFill/>
          <a:ln>
            <a:noFill/>
          </a:ln>
        </p:spPr>
        <p:txBody>
          <a:bodyPr anchorCtr="0" anchor="t" bIns="0" lIns="104775"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334155"/>
                </a:solidFill>
                <a:latin typeface="Lato"/>
                <a:ea typeface="Lato"/>
                <a:cs typeface="Lato"/>
                <a:sym typeface="Lato"/>
              </a:rPr>
              <a:t>Heterogeneous Environments:</a:t>
            </a:r>
            <a:r>
              <a:rPr b="0" i="0" lang="en-US" sz="1425" u="none" cap="none" strike="noStrike">
                <a:solidFill>
                  <a:srgbClr val="334155"/>
                </a:solidFill>
                <a:latin typeface="Lato"/>
                <a:ea typeface="Lato"/>
                <a:cs typeface="Lato"/>
                <a:sym typeface="Lato"/>
              </a:rPr>
              <a:t> Heterogeneous database environment means different types of databases used in an organization. This level of specificity is critical for accurate queries... or working in environments with shared or complex data structures.</a:t>
            </a:r>
            <a:endParaRPr/>
          </a:p>
        </p:txBody>
      </p:sp>
      <p:sp>
        <p:nvSpPr>
          <p:cNvPr id="212" name="Google Shape;212;p22"/>
          <p:cNvSpPr txBox="1"/>
          <p:nvPr/>
        </p:nvSpPr>
        <p:spPr>
          <a:xfrm>
            <a:off x="419100" y="4028449"/>
            <a:ext cx="1047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Lato"/>
                <a:ea typeface="Lato"/>
                <a:cs typeface="Lato"/>
                <a:sym typeface="Lato"/>
              </a:rPr>
              <a:t>•</a:t>
            </a:r>
            <a:endParaRPr/>
          </a:p>
        </p:txBody>
      </p:sp>
      <p:sp>
        <p:nvSpPr>
          <p:cNvPr id="213" name="Google Shape;213;p22"/>
          <p:cNvSpPr txBox="1"/>
          <p:nvPr/>
        </p:nvSpPr>
        <p:spPr>
          <a:xfrm>
            <a:off x="523875" y="4026544"/>
            <a:ext cx="5895975" cy="578941"/>
          </a:xfrm>
          <a:prstGeom prst="rect">
            <a:avLst/>
          </a:prstGeom>
          <a:noFill/>
          <a:ln>
            <a:noFill/>
          </a:ln>
        </p:spPr>
        <p:txBody>
          <a:bodyPr anchorCtr="0" anchor="t" bIns="0" lIns="104775"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334155"/>
                </a:solidFill>
                <a:latin typeface="Lato"/>
                <a:ea typeface="Lato"/>
                <a:cs typeface="Lato"/>
                <a:sym typeface="Lato"/>
              </a:rPr>
              <a:t>Supports Cross-Project Queries:</a:t>
            </a:r>
            <a:r>
              <a:rPr b="0" i="0" lang="en-US" sz="1425" u="none" cap="none" strike="noStrike">
                <a:solidFill>
                  <a:srgbClr val="334155"/>
                </a:solidFill>
                <a:latin typeface="Lato"/>
                <a:ea typeface="Lato"/>
                <a:cs typeface="Lato"/>
                <a:sym typeface="Lato"/>
              </a:rPr>
              <a:t> Qualified references enable joining or comparing tables from various projects.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