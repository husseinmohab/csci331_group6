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37135"/>
            <a:ext cx="7772400" cy="1470025"/>
          </a:xfrm>
        </p:spPr>
        <p:txBody>
          <a:bodyPr>
            <a:noAutofit/>
          </a:bodyPr>
          <a:lstStyle/>
          <a:p>
            <a:r>
              <a:rPr lang="en-US" sz="4800" dirty="0"/>
              <a:t>Project 2: </a:t>
            </a:r>
            <a:r>
              <a:rPr lang="en-US" dirty="0"/>
              <a:t>Convert the Prestige Cars Dataset into a fully Normalized Database 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By Group 6: Ilya, Mohab, </a:t>
            </a:r>
            <a:r>
              <a:rPr lang="en-US" dirty="0" err="1">
                <a:solidFill>
                  <a:schemeClr val="tx1"/>
                </a:solidFill>
              </a:rPr>
              <a:t>Gabriel,Ranjan</a:t>
            </a:r>
            <a:r>
              <a:rPr lang="en-US" dirty="0">
                <a:solidFill>
                  <a:schemeClr val="tx1"/>
                </a:solidFill>
              </a:rPr>
              <a:t> and Ismail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High-Level Improvements in the New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Introduced clear schema layers: [</a:t>
            </a:r>
            <a:r>
              <a:rPr dirty="0" err="1"/>
              <a:t>Udt</a:t>
            </a:r>
            <a:r>
              <a:rPr dirty="0"/>
              <a:t>], [Utils], [Reference], [</a:t>
            </a:r>
            <a:r>
              <a:rPr dirty="0" err="1"/>
              <a:t>HumanResources</a:t>
            </a:r>
            <a:r>
              <a:rPr dirty="0"/>
              <a:t>], [Inventory], [Sales].</a:t>
            </a:r>
          </a:p>
          <a:p>
            <a:r>
              <a:rPr dirty="0"/>
              <a:t>Created a richer UDT library with defaults and rules to capture business meaning.</a:t>
            </a:r>
          </a:p>
          <a:p>
            <a:r>
              <a:rPr dirty="0"/>
              <a:t>Normalized reference data out of legacy [Data] and [</a:t>
            </a:r>
            <a:r>
              <a:rPr dirty="0" err="1"/>
              <a:t>DataTransfer</a:t>
            </a:r>
            <a:r>
              <a:rPr dirty="0"/>
              <a:t>] schemas.</a:t>
            </a:r>
          </a:p>
          <a:p>
            <a:r>
              <a:rPr dirty="0"/>
              <a:t>Added foreign keys, unique constraints, and check constraints for </a:t>
            </a:r>
            <a:r>
              <a:rPr lang="en-US" dirty="0"/>
              <a:t>data </a:t>
            </a:r>
            <a:r>
              <a:rPr dirty="0"/>
              <a:t>integrity.</a:t>
            </a:r>
          </a:p>
          <a:p>
            <a:r>
              <a:rPr dirty="0"/>
              <a:t>Implemented </a:t>
            </a:r>
            <a:r>
              <a:rPr dirty="0" err="1"/>
              <a:t>ReviewRow</a:t>
            </a:r>
            <a:r>
              <a:rPr dirty="0"/>
              <a:t> flags to track and clean low‑quality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Stronger Domain Modeling with UDTs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General UDTs: </a:t>
            </a:r>
            <a:r>
              <a:rPr dirty="0" err="1"/>
              <a:t>SurrogateKeyInt</a:t>
            </a:r>
            <a:r>
              <a:rPr dirty="0"/>
              <a:t>, </a:t>
            </a:r>
            <a:r>
              <a:rPr dirty="0" err="1"/>
              <a:t>BitVal</a:t>
            </a:r>
            <a:r>
              <a:rPr dirty="0"/>
              <a:t>, Name, Comment, </a:t>
            </a:r>
            <a:r>
              <a:rPr dirty="0" err="1"/>
              <a:t>CurrencyAmount</a:t>
            </a:r>
            <a:r>
              <a:rPr dirty="0"/>
              <a:t>, </a:t>
            </a:r>
            <a:r>
              <a:rPr dirty="0" err="1"/>
              <a:t>TransactionDate</a:t>
            </a:r>
            <a:r>
              <a:rPr dirty="0"/>
              <a:t>, </a:t>
            </a:r>
            <a:r>
              <a:rPr dirty="0" err="1"/>
              <a:t>TransactionTime</a:t>
            </a:r>
            <a:r>
              <a:rPr dirty="0"/>
              <a:t>.</a:t>
            </a:r>
          </a:p>
          <a:p>
            <a:r>
              <a:rPr dirty="0"/>
              <a:t>Specialized UDTs: CountryISO2, CountryISO3, </a:t>
            </a:r>
            <a:r>
              <a:rPr dirty="0" err="1"/>
              <a:t>YearValue</a:t>
            </a:r>
            <a:r>
              <a:rPr dirty="0"/>
              <a:t>, </a:t>
            </a:r>
            <a:r>
              <a:rPr dirty="0" err="1"/>
              <a:t>ModelName</a:t>
            </a:r>
            <a:r>
              <a:rPr dirty="0"/>
              <a:t>, </a:t>
            </a:r>
            <a:r>
              <a:rPr dirty="0" err="1"/>
              <a:t>ColorName</a:t>
            </a:r>
            <a:r>
              <a:rPr dirty="0"/>
              <a:t>, </a:t>
            </a:r>
            <a:r>
              <a:rPr dirty="0" err="1"/>
              <a:t>InvoiceNumber</a:t>
            </a:r>
            <a:r>
              <a:rPr dirty="0"/>
              <a:t>, LineItemNumber, etc.</a:t>
            </a:r>
          </a:p>
          <a:p>
            <a:r>
              <a:rPr dirty="0"/>
              <a:t>Defaults added for most UDTs (e.g. '(Unknown)', 0.00, '1900‑01‑01', '9999').</a:t>
            </a:r>
          </a:p>
          <a:p>
            <a:r>
              <a:rPr dirty="0"/>
              <a:t>Rules such as </a:t>
            </a:r>
            <a:r>
              <a:rPr dirty="0" err="1"/>
              <a:t>CK_Udt_YearValue_Format</a:t>
            </a:r>
            <a:r>
              <a:rPr dirty="0"/>
              <a:t> enforce valid 4‑</a:t>
            </a:r>
            <a:r>
              <a:rPr lang="en-US" dirty="0"/>
              <a:t>digit</a:t>
            </a:r>
            <a:r>
              <a:rPr dirty="0"/>
              <a:t> year values.</a:t>
            </a:r>
          </a:p>
          <a:p>
            <a:r>
              <a:rPr dirty="0"/>
              <a:t>Result: consistent data types and behavior across all schemas.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Handling Messy Data During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Systematic use of COALESCE to avoid violating NOT NULL UDTs during inserts.</a:t>
            </a:r>
          </a:p>
          <a:p>
            <a:r>
              <a:rPr dirty="0"/>
              <a:t>Use of RTRIM() to clean </a:t>
            </a:r>
            <a:r>
              <a:rPr dirty="0" err="1"/>
              <a:t>nchar</a:t>
            </a:r>
            <a:r>
              <a:rPr dirty="0"/>
              <a:t>-based codes (e.g. CountryISO2/ISO3) from trailing spaces.</a:t>
            </a:r>
          </a:p>
          <a:p>
            <a:r>
              <a:rPr lang="en-US" dirty="0"/>
              <a:t>Meaningful </a:t>
            </a:r>
            <a:r>
              <a:rPr dirty="0"/>
              <a:t>defaults, e.g. 'UN' / 'UNK' for unknown countries, '(Unknown)' text values, 0.00 for amounts.</a:t>
            </a:r>
          </a:p>
          <a:p>
            <a:r>
              <a:rPr dirty="0"/>
              <a:t>Problem rows are preserved with safe defaults instead of failing inserts.</a:t>
            </a:r>
          </a:p>
          <a:p>
            <a:r>
              <a:rPr dirty="0"/>
              <a:t>Combined with </a:t>
            </a:r>
            <a:r>
              <a:rPr dirty="0" err="1"/>
              <a:t>ReviewRow</a:t>
            </a:r>
            <a:r>
              <a:rPr dirty="0"/>
              <a:t>, this creates a robust data‑quality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Reference Layer: Country and </a:t>
            </a:r>
            <a:r>
              <a:rPr dirty="0" err="1"/>
              <a:t>SalesRegion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New [</a:t>
            </a:r>
            <a:r>
              <a:rPr lang="en-US" dirty="0"/>
              <a:t>Reference</a:t>
            </a:r>
            <a:r>
              <a:rPr dirty="0"/>
              <a:t>].[</a:t>
            </a:r>
            <a:r>
              <a:rPr dirty="0" err="1"/>
              <a:t>SalesRegion</a:t>
            </a:r>
            <a:r>
              <a:rPr dirty="0"/>
              <a:t>] and [Reference].[Country] replace older [Data] tables.</a:t>
            </a:r>
          </a:p>
          <a:p>
            <a:r>
              <a:rPr dirty="0"/>
              <a:t>Both use </a:t>
            </a:r>
            <a:r>
              <a:rPr dirty="0" err="1"/>
              <a:t>Udt.Name</a:t>
            </a:r>
            <a:r>
              <a:rPr dirty="0"/>
              <a:t> and ISO UDTs with NOT NULL and defaults.</a:t>
            </a:r>
          </a:p>
          <a:p>
            <a:r>
              <a:rPr dirty="0"/>
              <a:t>Unique constraints on </a:t>
            </a:r>
            <a:r>
              <a:rPr dirty="0" err="1"/>
              <a:t>CountryName</a:t>
            </a:r>
            <a:r>
              <a:rPr dirty="0"/>
              <a:t>, CountryISO2, CountryISO3, and </a:t>
            </a:r>
            <a:r>
              <a:rPr dirty="0" err="1"/>
              <a:t>SalesRegionName</a:t>
            </a:r>
            <a:r>
              <a:rPr dirty="0"/>
              <a:t>.</a:t>
            </a:r>
          </a:p>
          <a:p>
            <a:r>
              <a:rPr dirty="0"/>
              <a:t>Migration uses COALESCE + RTRIM and maps missing regions to '(Unknown)'.</a:t>
            </a:r>
          </a:p>
          <a:p>
            <a:r>
              <a:rPr dirty="0" err="1"/>
              <a:t>ReviewRow</a:t>
            </a:r>
            <a:r>
              <a:rPr dirty="0"/>
              <a:t> marks countries/regions with missing or inconsistent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HumanResources Schema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Introduced [</a:t>
            </a:r>
            <a:r>
              <a:rPr dirty="0" err="1"/>
              <a:t>HumanResources</a:t>
            </a:r>
            <a:r>
              <a:rPr dirty="0"/>
              <a:t>].[Department] and [</a:t>
            </a:r>
            <a:r>
              <a:rPr dirty="0" err="1"/>
              <a:t>HumanResources</a:t>
            </a:r>
            <a:r>
              <a:rPr dirty="0"/>
              <a:t>].[Staff] tables.</a:t>
            </a:r>
          </a:p>
          <a:p>
            <a:r>
              <a:rPr lang="en-US" dirty="0"/>
              <a:t>Department </a:t>
            </a:r>
            <a:r>
              <a:rPr dirty="0"/>
              <a:t>has unique </a:t>
            </a:r>
            <a:r>
              <a:rPr dirty="0" err="1"/>
              <a:t>DepartmentName</a:t>
            </a:r>
            <a:r>
              <a:rPr dirty="0"/>
              <a:t> enforced by </a:t>
            </a:r>
            <a:r>
              <a:rPr dirty="0" err="1"/>
              <a:t>AK_HR_Department_Name</a:t>
            </a:r>
            <a:r>
              <a:rPr dirty="0"/>
              <a:t>.</a:t>
            </a:r>
          </a:p>
          <a:p>
            <a:r>
              <a:rPr dirty="0"/>
              <a:t>Staff references </a:t>
            </a:r>
            <a:r>
              <a:rPr dirty="0" err="1"/>
              <a:t>DepartmentID</a:t>
            </a:r>
            <a:r>
              <a:rPr dirty="0"/>
              <a:t> and </a:t>
            </a:r>
            <a:r>
              <a:rPr dirty="0" err="1"/>
              <a:t>ManagerID</a:t>
            </a:r>
            <a:r>
              <a:rPr dirty="0"/>
              <a:t> using UDTs and foreign keys.</a:t>
            </a:r>
          </a:p>
          <a:p>
            <a:r>
              <a:rPr dirty="0"/>
              <a:t>Self‑referencing FK on </a:t>
            </a:r>
            <a:r>
              <a:rPr dirty="0" err="1"/>
              <a:t>ManagerID</a:t>
            </a:r>
            <a:r>
              <a:rPr dirty="0"/>
              <a:t> models real reporting hierarchies.</a:t>
            </a:r>
          </a:p>
          <a:p>
            <a:r>
              <a:rPr dirty="0"/>
              <a:t>Replaces ad‑hoc reference/staging tables and supports future HR expansions.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Inventory Schema: Make, Model, and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New [Inventory] schema with Make, Model, and Stock tables.</a:t>
            </a:r>
          </a:p>
          <a:p>
            <a:r>
              <a:rPr dirty="0"/>
              <a:t>Make links to </a:t>
            </a:r>
            <a:r>
              <a:rPr dirty="0" err="1"/>
              <a:t>Reference.Country</a:t>
            </a:r>
            <a:r>
              <a:rPr dirty="0"/>
              <a:t> via </a:t>
            </a:r>
            <a:r>
              <a:rPr dirty="0" err="1"/>
              <a:t>CountryID</a:t>
            </a:r>
            <a:r>
              <a:rPr dirty="0"/>
              <a:t> and has unique </a:t>
            </a:r>
            <a:r>
              <a:rPr dirty="0" err="1"/>
              <a:t>MakeName</a:t>
            </a:r>
            <a:r>
              <a:rPr dirty="0"/>
              <a:t>.</a:t>
            </a:r>
          </a:p>
          <a:p>
            <a:r>
              <a:rPr dirty="0"/>
              <a:t>Model </a:t>
            </a:r>
            <a:r>
              <a:rPr lang="en-US" dirty="0"/>
              <a:t>uses </a:t>
            </a:r>
            <a:r>
              <a:rPr dirty="0" err="1"/>
              <a:t>YearValue</a:t>
            </a:r>
            <a:r>
              <a:rPr dirty="0"/>
              <a:t> UDTs and </a:t>
            </a:r>
            <a:r>
              <a:rPr dirty="0" err="1"/>
              <a:t>ReviewRow</a:t>
            </a:r>
            <a:r>
              <a:rPr dirty="0"/>
              <a:t> to track incomplete definitions.</a:t>
            </a:r>
          </a:p>
          <a:p>
            <a:r>
              <a:rPr dirty="0"/>
              <a:t>Stock uses strong UDTs for prices, dates, times, colors, comments, and flags (</a:t>
            </a:r>
            <a:r>
              <a:rPr dirty="0" err="1"/>
              <a:t>IsRHD</a:t>
            </a:r>
            <a:r>
              <a:rPr dirty="0"/>
              <a:t>).</a:t>
            </a:r>
          </a:p>
          <a:p>
            <a:r>
              <a:rPr dirty="0"/>
              <a:t>Foreign keys enforce Make → Country, Model → Make, Stock → Model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Sales Schema: Customers, Orders, and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 err="1"/>
              <a:t>Sales.Customer</a:t>
            </a:r>
            <a:r>
              <a:rPr dirty="0"/>
              <a:t> stores normalized address info, </a:t>
            </a:r>
            <a:r>
              <a:rPr dirty="0" err="1"/>
              <a:t>CountryID</a:t>
            </a:r>
            <a:r>
              <a:rPr dirty="0"/>
              <a:t>, risk flags, and a temporary </a:t>
            </a:r>
            <a:r>
              <a:rPr dirty="0" err="1"/>
              <a:t>OldCustomerID</a:t>
            </a:r>
            <a:r>
              <a:rPr dirty="0"/>
              <a:t> for migration.</a:t>
            </a:r>
          </a:p>
          <a:p>
            <a:r>
              <a:rPr dirty="0" err="1"/>
              <a:t>Sales.SalesOrder</a:t>
            </a:r>
            <a:r>
              <a:rPr dirty="0"/>
              <a:t> and </a:t>
            </a:r>
            <a:r>
              <a:rPr dirty="0" err="1"/>
              <a:t>Sales.SalesOrderDetail</a:t>
            </a:r>
            <a:r>
              <a:rPr dirty="0"/>
              <a:t> use surrogate keys and domain UDTs (</a:t>
            </a:r>
            <a:r>
              <a:rPr lang="en-US" dirty="0" err="1"/>
              <a:t>InvoiceNumber</a:t>
            </a:r>
            <a:r>
              <a:rPr dirty="0"/>
              <a:t>, LineItemNumber, </a:t>
            </a:r>
            <a:r>
              <a:rPr dirty="0" err="1"/>
              <a:t>CurrencyAmount</a:t>
            </a:r>
            <a:r>
              <a:rPr dirty="0"/>
              <a:t>).</a:t>
            </a:r>
          </a:p>
          <a:p>
            <a:r>
              <a:rPr dirty="0"/>
              <a:t>Foreign keys connect Customer ↔ Country, </a:t>
            </a:r>
            <a:r>
              <a:rPr dirty="0" err="1"/>
              <a:t>SalesOrder</a:t>
            </a:r>
            <a:r>
              <a:rPr dirty="0"/>
              <a:t> ↔ Customer, and </a:t>
            </a:r>
            <a:r>
              <a:rPr dirty="0" err="1"/>
              <a:t>SalesOrderDetail</a:t>
            </a:r>
            <a:r>
              <a:rPr dirty="0"/>
              <a:t> ↔ </a:t>
            </a:r>
            <a:r>
              <a:rPr dirty="0" err="1"/>
              <a:t>SalesOrder</a:t>
            </a:r>
            <a:r>
              <a:rPr dirty="0"/>
              <a:t> and Stock.</a:t>
            </a:r>
          </a:p>
          <a:p>
            <a:r>
              <a:rPr dirty="0" err="1"/>
              <a:t>ReviewRow</a:t>
            </a:r>
            <a:r>
              <a:rPr dirty="0"/>
              <a:t> used to highlight suspicious rows (missing Customer, bad </a:t>
            </a:r>
            <a:r>
              <a:rPr dirty="0" err="1"/>
              <a:t>InvoiceNumber</a:t>
            </a:r>
            <a:r>
              <a:rPr dirty="0"/>
              <a:t>, etc.).</a:t>
            </a:r>
          </a:p>
          <a:p>
            <a:r>
              <a:rPr dirty="0"/>
              <a:t>Provides a clean foundation for reporting sales and profitability.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Sales: Budgets, Forex, and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Budget and </a:t>
            </a:r>
            <a:r>
              <a:rPr lang="en-US" dirty="0" err="1"/>
              <a:t>SalesBudget</a:t>
            </a:r>
            <a:r>
              <a:rPr dirty="0" err="1"/>
              <a:t>store</a:t>
            </a:r>
            <a:r>
              <a:rPr dirty="0"/>
              <a:t> yearly and monthly budgets with </a:t>
            </a:r>
            <a:r>
              <a:rPr dirty="0" err="1"/>
              <a:t>YearValue</a:t>
            </a:r>
            <a:r>
              <a:rPr dirty="0"/>
              <a:t> and </a:t>
            </a:r>
            <a:r>
              <a:rPr dirty="0" err="1"/>
              <a:t>MonthNumber</a:t>
            </a:r>
            <a:r>
              <a:rPr dirty="0"/>
              <a:t> UDTs.</a:t>
            </a:r>
          </a:p>
          <a:p>
            <a:r>
              <a:rPr dirty="0" err="1"/>
              <a:t>CK_Budget_MonthRange</a:t>
            </a:r>
            <a:r>
              <a:rPr dirty="0"/>
              <a:t> constraint enforces valid month values 1–12.</a:t>
            </a:r>
          </a:p>
          <a:p>
            <a:r>
              <a:rPr dirty="0"/>
              <a:t>Forex table standardizes exchange rates via </a:t>
            </a:r>
            <a:r>
              <a:rPr dirty="0" err="1"/>
              <a:t>ExchangeDate</a:t>
            </a:r>
            <a:r>
              <a:rPr dirty="0"/>
              <a:t> and </a:t>
            </a:r>
            <a:r>
              <a:rPr dirty="0" err="1"/>
              <a:t>ISOCurrency</a:t>
            </a:r>
            <a:r>
              <a:rPr dirty="0"/>
              <a:t> UDTs.</a:t>
            </a:r>
          </a:p>
          <a:p>
            <a:r>
              <a:rPr dirty="0" err="1"/>
              <a:t>MarketingInformation</a:t>
            </a:r>
            <a:r>
              <a:rPr dirty="0"/>
              <a:t> links customers to </a:t>
            </a:r>
            <a:r>
              <a:rPr dirty="0" err="1"/>
              <a:t>SpendCapacity</a:t>
            </a:r>
            <a:r>
              <a:rPr dirty="0"/>
              <a:t> (UDT) with FK to Customer.</a:t>
            </a:r>
          </a:p>
          <a:p>
            <a:r>
              <a:rPr dirty="0" err="1"/>
              <a:t>MarketingType</a:t>
            </a:r>
            <a:r>
              <a:rPr dirty="0"/>
              <a:t> + </a:t>
            </a:r>
            <a:r>
              <a:rPr dirty="0" err="1"/>
              <a:t>MakeMarketingType</a:t>
            </a:r>
            <a:r>
              <a:rPr dirty="0"/>
              <a:t> implement a proper many‑to‑many relationship using STRING_SPLIT for migration.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ReviewRow: Built-In Data Quality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ReviewRow</a:t>
            </a:r>
            <a:r>
              <a:rPr dirty="0"/>
              <a:t> (</a:t>
            </a:r>
            <a:r>
              <a:rPr dirty="0" err="1"/>
              <a:t>BitVal</a:t>
            </a:r>
            <a:r>
              <a:rPr dirty="0"/>
              <a:t>) added to key tables: </a:t>
            </a:r>
            <a:r>
              <a:rPr dirty="0" err="1"/>
              <a:t>SalesRegion</a:t>
            </a:r>
            <a:r>
              <a:rPr dirty="0"/>
              <a:t>,</a:t>
            </a:r>
            <a:r>
              <a:rPr lang="en-US" dirty="0"/>
              <a:t> Country</a:t>
            </a:r>
            <a:r>
              <a:rPr dirty="0"/>
              <a:t>, Make, Model, Stock, Customer, </a:t>
            </a:r>
            <a:r>
              <a:rPr dirty="0" err="1"/>
              <a:t>SalesOrder</a:t>
            </a:r>
            <a:r>
              <a:rPr dirty="0"/>
              <a:t>, etc.</a:t>
            </a:r>
          </a:p>
          <a:p>
            <a:r>
              <a:rPr dirty="0"/>
              <a:t>Populated via CASE expressions during migration when key fields are NULL or lookups fail.</a:t>
            </a:r>
          </a:p>
          <a:p>
            <a:r>
              <a:rPr dirty="0"/>
              <a:t>Allows easy identification of records that need manual review or business validation.</a:t>
            </a:r>
          </a:p>
          <a:p>
            <a:r>
              <a:rPr dirty="0"/>
              <a:t>Prevents silent data loss while still enforcing stricter UDT and constraint rules.</a:t>
            </a:r>
          </a:p>
          <a:p>
            <a:r>
              <a:rPr dirty="0"/>
              <a:t>Turns the migration into a controlled data‑cleansing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Up Legacy Schemas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Dropped old [Data], [</a:t>
            </a:r>
            <a:r>
              <a:rPr dirty="0" err="1"/>
              <a:t>DataTransfer</a:t>
            </a:r>
            <a:r>
              <a:rPr dirty="0"/>
              <a:t>], and [Output] schemas after successful migration.</a:t>
            </a:r>
          </a:p>
          <a:p>
            <a:r>
              <a:rPr dirty="0"/>
              <a:t>Removed legacy tables such as </a:t>
            </a:r>
            <a:r>
              <a:rPr dirty="0" err="1"/>
              <a:t>Data.Country</a:t>
            </a:r>
            <a:r>
              <a:rPr dirty="0"/>
              <a:t>, </a:t>
            </a:r>
            <a:r>
              <a:rPr dirty="0" err="1"/>
              <a:t>Data.Customer</a:t>
            </a:r>
            <a:r>
              <a:rPr dirty="0"/>
              <a:t>, </a:t>
            </a:r>
            <a:r>
              <a:rPr dirty="0" err="1"/>
              <a:t>Data.Sales</a:t>
            </a:r>
            <a:r>
              <a:rPr dirty="0"/>
              <a:t>, </a:t>
            </a:r>
            <a:r>
              <a:rPr dirty="0" err="1"/>
              <a:t>Data.Stock</a:t>
            </a:r>
            <a:r>
              <a:rPr dirty="0"/>
              <a:t>, and many </a:t>
            </a:r>
            <a:r>
              <a:rPr lang="en-US" dirty="0"/>
              <a:t>staging</a:t>
            </a:r>
            <a:r>
              <a:rPr dirty="0"/>
              <a:t>/reference tables.</a:t>
            </a:r>
          </a:p>
          <a:p>
            <a:r>
              <a:rPr dirty="0"/>
              <a:t>Dropped temporary columns like </a:t>
            </a:r>
            <a:r>
              <a:rPr dirty="0" err="1"/>
              <a:t>OldCustomerID</a:t>
            </a:r>
            <a:r>
              <a:rPr dirty="0"/>
              <a:t> once no longer needed.</a:t>
            </a:r>
          </a:p>
          <a:p>
            <a:r>
              <a:rPr dirty="0"/>
              <a:t>Eliminates duplicate or confusing structures and forces use of the new normalized model.</a:t>
            </a:r>
          </a:p>
          <a:p>
            <a:r>
              <a:rPr dirty="0"/>
              <a:t>Result: a lean, coherent database aligned with domain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of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Clear schema boundaries and domain‑driven organization across the database.</a:t>
            </a:r>
          </a:p>
          <a:p>
            <a:r>
              <a:rPr dirty="0"/>
              <a:t>Richer UDT layer with defaults and rules </a:t>
            </a:r>
            <a:r>
              <a:rPr lang="en-US" dirty="0"/>
              <a:t>ensures </a:t>
            </a:r>
            <a:r>
              <a:rPr dirty="0"/>
              <a:t>consistent data semantics.</a:t>
            </a:r>
          </a:p>
          <a:p>
            <a:r>
              <a:rPr dirty="0"/>
              <a:t>Normalized reference and transactional data with strong key and relationship design.</a:t>
            </a:r>
          </a:p>
          <a:p>
            <a:r>
              <a:rPr dirty="0"/>
              <a:t>Robust migration strategy using COALESCE, RTRIM, and </a:t>
            </a:r>
            <a:r>
              <a:rPr dirty="0" err="1"/>
              <a:t>ReviewRow</a:t>
            </a:r>
            <a:r>
              <a:rPr dirty="0"/>
              <a:t> flags for data quality.</a:t>
            </a:r>
          </a:p>
          <a:p>
            <a:r>
              <a:rPr dirty="0"/>
              <a:t>Legacy clutter removed, leaving a maintainable, extensible </a:t>
            </a:r>
            <a:r>
              <a:rPr dirty="0" err="1"/>
              <a:t>PrestigeCars</a:t>
            </a:r>
            <a:r>
              <a:rPr dirty="0"/>
              <a:t> data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918</Words>
  <Application>Microsoft Office PowerPoint</Application>
  <PresentationFormat>On-screen Show (4:3)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Project 2: Convert the Prestige Cars Dataset into a fully Normalized Database </vt:lpstr>
      <vt:lpstr>High-Level Improvements in the New Design</vt:lpstr>
      <vt:lpstr>Stronger Domain Modeling with UDTs</vt:lpstr>
      <vt:lpstr>Handling Messy Data During Migration</vt:lpstr>
      <vt:lpstr>Reference Layer: Country and SalesRegion</vt:lpstr>
      <vt:lpstr>HumanResources Schema Normalization</vt:lpstr>
      <vt:lpstr>Inventory Schema: Make, Model, and Stock</vt:lpstr>
      <vt:lpstr>Sales Schema: Customers, Orders, and Details</vt:lpstr>
      <vt:lpstr>Sales: Budgets, Forex, and Marketing</vt:lpstr>
      <vt:lpstr>ReviewRow: Built-In Data Quality Tracking</vt:lpstr>
      <vt:lpstr>Cleaning Up Legacy Schemas</vt:lpstr>
      <vt:lpstr>Summary of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Ranjan Bhattarai</dc:creator>
  <cp:keywords/>
  <dc:description>generated using python-pptx</dc:description>
  <cp:lastModifiedBy>Ranjan Bhattarai</cp:lastModifiedBy>
  <cp:revision>3</cp:revision>
  <dcterms:created xsi:type="dcterms:W3CDTF">2013-01-27T09:14:16Z</dcterms:created>
  <dcterms:modified xsi:type="dcterms:W3CDTF">2025-12-01T02:55:33Z</dcterms:modified>
  <cp:category/>
</cp:coreProperties>
</file>